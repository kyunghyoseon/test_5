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6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3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27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45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32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29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43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49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53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92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76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16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4CE33-9C6F-4D8D-9DBB-DC77A7CC31B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07A8-6C51-4955-90E4-54506DF50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66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2852737"/>
            <a:ext cx="4762500" cy="542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7060" y="3692770"/>
            <a:ext cx="46778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/>
              <a:t>2023. 06. </a:t>
            </a:r>
            <a:r>
              <a:rPr lang="en-US" altLang="ko-KR" sz="1500" dirty="0" smtClean="0"/>
              <a:t>27 </a:t>
            </a:r>
            <a:r>
              <a:rPr lang="ko-KR" altLang="en-US" sz="1500" dirty="0" smtClean="0"/>
              <a:t>스마트문화앱 시스템 설계 평가</a:t>
            </a:r>
            <a:r>
              <a:rPr lang="en-US" altLang="ko-KR" sz="1500" dirty="0" smtClean="0"/>
              <a:t>_</a:t>
            </a:r>
            <a:r>
              <a:rPr lang="ko-KR" altLang="en-US" sz="1500" dirty="0" err="1" smtClean="0"/>
              <a:t>경효선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5086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567" y="756459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로그인 페이지</a:t>
            </a:r>
            <a:endParaRPr lang="ko-KR" altLang="en-US" sz="1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372" y="1653592"/>
            <a:ext cx="3159408" cy="421583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488" y="3348492"/>
            <a:ext cx="1318737" cy="252093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2552193"/>
            <a:ext cx="2046282" cy="3317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07423" y="610985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태블릿</a:t>
            </a:r>
            <a:endParaRPr lang="ko-KR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050438" y="6109855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pc</a:t>
            </a:r>
            <a:endParaRPr lang="ko-KR" alt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9511218" y="610985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모바일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35923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567" y="75645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로그인 페이지 오류 창</a:t>
            </a:r>
            <a:endParaRPr lang="ko-KR" altLang="en-US" sz="1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585" y="1322614"/>
            <a:ext cx="3930260" cy="524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20414" y="3131820"/>
            <a:ext cx="46519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 smtClean="0"/>
              <a:t>Slsk702!</a:t>
            </a:r>
            <a:endParaRPr lang="ko-KR" altLang="en-US" sz="600" dirty="0"/>
          </a:p>
        </p:txBody>
      </p:sp>
      <p:sp>
        <p:nvSpPr>
          <p:cNvPr id="14" name="TextBox 13"/>
          <p:cNvSpPr txBox="1"/>
          <p:nvPr/>
        </p:nvSpPr>
        <p:spPr>
          <a:xfrm>
            <a:off x="2620414" y="3413058"/>
            <a:ext cx="3449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 smtClean="0"/>
              <a:t>*****</a:t>
            </a:r>
            <a:endParaRPr lang="ko-KR" altLang="en-US" sz="6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926" y="1253518"/>
            <a:ext cx="3998595" cy="3066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99" y="3791668"/>
            <a:ext cx="2330768" cy="6615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735" y="5330594"/>
            <a:ext cx="2310096" cy="6718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직사각형 18"/>
          <p:cNvSpPr/>
          <p:nvPr/>
        </p:nvSpPr>
        <p:spPr>
          <a:xfrm>
            <a:off x="6839310" y="1198246"/>
            <a:ext cx="905351" cy="4343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524" y="2039460"/>
            <a:ext cx="2933700" cy="1571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/>
          <p:cNvSpPr/>
          <p:nvPr/>
        </p:nvSpPr>
        <p:spPr>
          <a:xfrm>
            <a:off x="4952134" y="2392680"/>
            <a:ext cx="922020" cy="7391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5608978" y="1662139"/>
            <a:ext cx="2295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DB</a:t>
            </a:r>
            <a:r>
              <a:rPr lang="ko-KR" altLang="en-US" sz="1200" dirty="0" smtClean="0"/>
              <a:t>에 등록된 정보와 같지 않음</a:t>
            </a:r>
            <a:endParaRPr lang="ko-KR" altLang="en-US" sz="1200" dirty="0"/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4258714" y="3055620"/>
            <a:ext cx="480810" cy="76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15399" y="2993320"/>
            <a:ext cx="2194832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DB</a:t>
            </a:r>
            <a:r>
              <a:rPr lang="ko-KR" altLang="en-US" sz="1200" dirty="0" smtClean="0">
                <a:solidFill>
                  <a:schemeClr val="bg1"/>
                </a:solidFill>
              </a:rPr>
              <a:t>에 저장된 </a:t>
            </a:r>
            <a:r>
              <a:rPr lang="en-US" altLang="ko-KR" sz="1200" dirty="0" smtClean="0">
                <a:solidFill>
                  <a:schemeClr val="bg1"/>
                </a:solidFill>
              </a:rPr>
              <a:t>ID</a:t>
            </a:r>
            <a:r>
              <a:rPr lang="ko-KR" altLang="en-US" sz="1200" dirty="0" smtClean="0">
                <a:solidFill>
                  <a:schemeClr val="bg1"/>
                </a:solidFill>
              </a:rPr>
              <a:t>가 아닐 경우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5399" y="3356120"/>
            <a:ext cx="27174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/>
              <a:t>ㄴ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* </a:t>
            </a:r>
            <a:r>
              <a:rPr lang="ko-KR" altLang="en-US" sz="900" dirty="0" smtClean="0"/>
              <a:t>등록되지 않은 아이디입니다</a:t>
            </a:r>
            <a:r>
              <a:rPr lang="en-US" altLang="ko-KR" sz="900" dirty="0" smtClean="0"/>
              <a:t>. – </a:t>
            </a:r>
            <a:r>
              <a:rPr lang="ko-KR" altLang="en-US" sz="900" dirty="0" smtClean="0"/>
              <a:t>알림 창 생성</a:t>
            </a:r>
            <a:endParaRPr lang="ko-KR" alt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8215399" y="4651161"/>
            <a:ext cx="234230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1- DB</a:t>
            </a:r>
            <a:r>
              <a:rPr lang="ko-KR" altLang="en-US" sz="1200" dirty="0" smtClean="0">
                <a:solidFill>
                  <a:schemeClr val="bg1"/>
                </a:solidFill>
              </a:rPr>
              <a:t>에 저장된 </a:t>
            </a:r>
            <a:r>
              <a:rPr lang="en-US" altLang="ko-KR" sz="1200" dirty="0" smtClean="0">
                <a:solidFill>
                  <a:schemeClr val="bg1"/>
                </a:solidFill>
              </a:rPr>
              <a:t>ID</a:t>
            </a:r>
            <a:r>
              <a:rPr lang="ko-KR" altLang="en-US" sz="1200" dirty="0" smtClean="0">
                <a:solidFill>
                  <a:schemeClr val="bg1"/>
                </a:solidFill>
              </a:rPr>
              <a:t>가 아닐 경우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15399" y="5013961"/>
            <a:ext cx="23310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/>
              <a:t>ㄴ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* </a:t>
            </a:r>
            <a:r>
              <a:rPr lang="ko-KR" altLang="en-US" sz="900" dirty="0" smtClean="0"/>
              <a:t>비밀번호가 틀립니다</a:t>
            </a:r>
            <a:r>
              <a:rPr lang="en-US" altLang="ko-KR" sz="900" dirty="0" smtClean="0"/>
              <a:t>. – </a:t>
            </a:r>
            <a:r>
              <a:rPr lang="ko-KR" altLang="en-US" sz="900" dirty="0" smtClean="0"/>
              <a:t>알림 창 생성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5028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567" y="756459"/>
            <a:ext cx="2501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로그인 페이지 </a:t>
            </a:r>
            <a:r>
              <a:rPr lang="en-US" altLang="ko-KR" sz="1400" dirty="0" smtClean="0"/>
              <a:t>– </a:t>
            </a:r>
            <a:r>
              <a:rPr lang="ko-KR" altLang="en-US" sz="1400" dirty="0" smtClean="0"/>
              <a:t>정상 로그인</a:t>
            </a:r>
            <a:endParaRPr lang="ko-KR" altLang="en-US" sz="1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81" y="1465504"/>
            <a:ext cx="5948363" cy="47678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40350" y="3083182"/>
            <a:ext cx="44595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b="1" dirty="0" smtClean="0"/>
              <a:t>LOGOUT</a:t>
            </a:r>
            <a:endParaRPr lang="ko-KR" altLang="en-US" sz="500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337" y="2765107"/>
            <a:ext cx="1304925" cy="428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7185660" y="2819400"/>
            <a:ext cx="411480" cy="3581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891337" y="3413760"/>
            <a:ext cx="3158172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DB</a:t>
            </a:r>
            <a:r>
              <a:rPr lang="ko-KR" altLang="en-US" sz="1200" dirty="0" smtClean="0">
                <a:solidFill>
                  <a:schemeClr val="bg1"/>
                </a:solidFill>
              </a:rPr>
              <a:t>에 저장된 </a:t>
            </a:r>
            <a:r>
              <a:rPr lang="en-US" altLang="ko-KR" sz="1200" dirty="0" smtClean="0">
                <a:solidFill>
                  <a:schemeClr val="bg1"/>
                </a:solidFill>
              </a:rPr>
              <a:t>ID </a:t>
            </a:r>
            <a:r>
              <a:rPr lang="ko-KR" altLang="en-US" sz="1200" dirty="0" smtClean="0">
                <a:solidFill>
                  <a:schemeClr val="bg1"/>
                </a:solidFill>
              </a:rPr>
              <a:t>값과 </a:t>
            </a:r>
            <a:r>
              <a:rPr lang="en-US" altLang="ko-KR" sz="1200" dirty="0" smtClean="0">
                <a:solidFill>
                  <a:schemeClr val="bg1"/>
                </a:solidFill>
              </a:rPr>
              <a:t>PW </a:t>
            </a:r>
            <a:r>
              <a:rPr lang="ko-KR" altLang="en-US" sz="1200" dirty="0" smtClean="0">
                <a:solidFill>
                  <a:schemeClr val="bg1"/>
                </a:solidFill>
              </a:rPr>
              <a:t>값이 일치할 경우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91337" y="3776560"/>
            <a:ext cx="3789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/>
              <a:t>ㄴ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* </a:t>
            </a:r>
            <a:r>
              <a:rPr lang="ko-KR" altLang="en-US" sz="900" dirty="0" smtClean="0"/>
              <a:t>로그인 </a:t>
            </a:r>
            <a:r>
              <a:rPr lang="ko-KR" altLang="en-US" sz="900" dirty="0" err="1" smtClean="0"/>
              <a:t>성공시</a:t>
            </a:r>
            <a:r>
              <a:rPr lang="ko-KR" altLang="en-US" sz="900" dirty="0" smtClean="0"/>
              <a:t> 상단 </a:t>
            </a:r>
            <a:r>
              <a:rPr lang="ko-KR" altLang="en-US" sz="900" dirty="0" err="1" smtClean="0"/>
              <a:t>메뉴바</a:t>
            </a:r>
            <a:r>
              <a:rPr lang="ko-KR" altLang="en-US" sz="900" dirty="0" smtClean="0"/>
              <a:t> 부분 로그인 아이콘 밑에 </a:t>
            </a:r>
            <a:r>
              <a:rPr lang="en-US" altLang="ko-KR" sz="900" dirty="0" smtClean="0"/>
              <a:t>LOGOUT </a:t>
            </a:r>
            <a:r>
              <a:rPr lang="ko-KR" altLang="en-US" sz="900" dirty="0" smtClean="0"/>
              <a:t>뜸</a:t>
            </a:r>
            <a:endParaRPr lang="ko-KR" altLang="en-US" sz="900" dirty="0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6187440" y="2819400"/>
            <a:ext cx="703897" cy="26378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340350" y="2918460"/>
            <a:ext cx="445956" cy="333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64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567" y="756459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회원가입 페이지</a:t>
            </a:r>
            <a:endParaRPr lang="ko-KR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2307423" y="610985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태블릿</a:t>
            </a:r>
            <a:endParaRPr lang="ko-KR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050438" y="6109855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pc</a:t>
            </a:r>
            <a:endParaRPr lang="ko-KR" alt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9511218" y="610985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모바일</a:t>
            </a:r>
            <a:endParaRPr lang="en-US" altLang="ko-KR" sz="1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983" y="1064236"/>
            <a:ext cx="2439936" cy="493197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559" y="1513318"/>
            <a:ext cx="1654630" cy="448289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626" y="2785017"/>
            <a:ext cx="1263868" cy="321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7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567" y="756459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회원가입 페이지 오류 창</a:t>
            </a:r>
            <a:endParaRPr lang="ko-KR" alt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8483591" y="1681070"/>
            <a:ext cx="3289683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ID </a:t>
            </a:r>
            <a:r>
              <a:rPr lang="ko-KR" altLang="en-US" sz="1200" dirty="0" smtClean="0">
                <a:solidFill>
                  <a:schemeClr val="bg1"/>
                </a:solidFill>
              </a:rPr>
              <a:t>조건 값이 일치하지 않을 시 팝업 창 생성 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83591" y="3217620"/>
            <a:ext cx="3490058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bg1"/>
                </a:solidFill>
              </a:rPr>
              <a:t>비밀번호 확인이 일치하지 않을 시 팝업 창 생성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57" y="1291493"/>
            <a:ext cx="2600656" cy="525684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487" y="2012525"/>
            <a:ext cx="2049553" cy="8499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675" y="980550"/>
            <a:ext cx="2076450" cy="8660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591" y="2016371"/>
            <a:ext cx="2786063" cy="8076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3590" y="3571609"/>
            <a:ext cx="2786063" cy="939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/>
          <p:cNvSpPr/>
          <p:nvPr/>
        </p:nvSpPr>
        <p:spPr>
          <a:xfrm>
            <a:off x="2988733" y="2602613"/>
            <a:ext cx="635000" cy="26373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/>
          <p:cNvCxnSpPr/>
          <p:nvPr/>
        </p:nvCxnSpPr>
        <p:spPr>
          <a:xfrm flipH="1">
            <a:off x="3623733" y="1634067"/>
            <a:ext cx="563738" cy="11176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8" idx="1"/>
          </p:cNvCxnSpPr>
          <p:nvPr/>
        </p:nvCxnSpPr>
        <p:spPr>
          <a:xfrm flipH="1">
            <a:off x="3623733" y="2437498"/>
            <a:ext cx="657754" cy="38651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81487" y="3110489"/>
            <a:ext cx="1786066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ID </a:t>
            </a:r>
            <a:r>
              <a:rPr lang="ko-KR" altLang="en-US" sz="1200" dirty="0" smtClean="0">
                <a:solidFill>
                  <a:schemeClr val="bg1"/>
                </a:solidFill>
              </a:rPr>
              <a:t>중복 확인 버튼 클릭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81487" y="3473289"/>
            <a:ext cx="3720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중복된 </a:t>
            </a:r>
            <a:r>
              <a:rPr lang="en-US" altLang="ko-KR" sz="900" dirty="0" smtClean="0"/>
              <a:t>ID</a:t>
            </a:r>
            <a:r>
              <a:rPr lang="ko-KR" altLang="en-US" sz="900" dirty="0" smtClean="0"/>
              <a:t>가 없을 경우 </a:t>
            </a:r>
            <a:r>
              <a:rPr lang="en-US" altLang="ko-KR" sz="900" dirty="0" smtClean="0"/>
              <a:t>– </a:t>
            </a:r>
            <a:r>
              <a:rPr lang="ko-KR" altLang="en-US" sz="900" dirty="0" err="1" smtClean="0"/>
              <a:t>사용가능한</a:t>
            </a:r>
            <a:r>
              <a:rPr lang="ko-KR" altLang="en-US" sz="900" dirty="0" smtClean="0"/>
              <a:t> 아이디입니다 </a:t>
            </a:r>
            <a:r>
              <a:rPr lang="en-US" altLang="ko-KR" sz="900" dirty="0" smtClean="0"/>
              <a:t>– </a:t>
            </a:r>
            <a:r>
              <a:rPr lang="ko-KR" altLang="en-US" sz="900" dirty="0" err="1" smtClean="0"/>
              <a:t>알림창</a:t>
            </a:r>
            <a:r>
              <a:rPr lang="ko-KR" altLang="en-US" sz="900" dirty="0" smtClean="0"/>
              <a:t> 생성</a:t>
            </a:r>
            <a:endParaRPr lang="en-US" altLang="ko-KR" sz="9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중복된 </a:t>
            </a:r>
            <a:r>
              <a:rPr lang="en-US" altLang="ko-KR" sz="900" dirty="0" smtClean="0"/>
              <a:t>ID</a:t>
            </a:r>
            <a:r>
              <a:rPr lang="ko-KR" altLang="en-US" sz="900" dirty="0" smtClean="0"/>
              <a:t>가 있을 경우 </a:t>
            </a:r>
            <a:r>
              <a:rPr lang="en-US" altLang="ko-KR" sz="900" dirty="0" smtClean="0"/>
              <a:t>– </a:t>
            </a:r>
            <a:r>
              <a:rPr lang="ko-KR" altLang="en-US" sz="900" dirty="0" smtClean="0"/>
              <a:t>아이디가 중복됩니다</a:t>
            </a:r>
            <a:r>
              <a:rPr lang="en-US" altLang="ko-KR" sz="900" dirty="0" smtClean="0"/>
              <a:t>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                             </a:t>
            </a:r>
            <a:r>
              <a:rPr lang="ko-KR" altLang="en-US" sz="900" dirty="0" err="1" smtClean="0"/>
              <a:t>다른아이디를</a:t>
            </a:r>
            <a:r>
              <a:rPr lang="ko-KR" altLang="en-US" sz="900" dirty="0" smtClean="0"/>
              <a:t> 사용하세요 </a:t>
            </a:r>
            <a:r>
              <a:rPr lang="en-US" altLang="ko-KR" sz="900" dirty="0" smtClean="0"/>
              <a:t>– </a:t>
            </a:r>
            <a:r>
              <a:rPr lang="ko-KR" altLang="en-US" sz="900" dirty="0" err="1" smtClean="0"/>
              <a:t>알림창</a:t>
            </a:r>
            <a:r>
              <a:rPr lang="ko-KR" altLang="en-US" sz="900" dirty="0" smtClean="0"/>
              <a:t> 생성</a:t>
            </a:r>
          </a:p>
          <a:p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8483591" y="4754170"/>
            <a:ext cx="3204723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*</a:t>
            </a:r>
            <a:r>
              <a:rPr lang="ko-KR" altLang="en-US" sz="1200" dirty="0" smtClean="0">
                <a:solidFill>
                  <a:schemeClr val="bg1"/>
                </a:solidFill>
              </a:rPr>
              <a:t>회원가입 완료 시 로그인 페이지로 이동됨</a:t>
            </a:r>
            <a:r>
              <a:rPr lang="en-US" altLang="ko-KR" sz="1200" dirty="0" smtClean="0">
                <a:solidFill>
                  <a:schemeClr val="bg1"/>
                </a:solidFill>
              </a:rPr>
              <a:t>*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44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567" y="756459"/>
            <a:ext cx="838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DB </a:t>
            </a:r>
            <a:r>
              <a:rPr lang="ko-KR" altLang="en-US" sz="1400" dirty="0" smtClean="0"/>
              <a:t>설계</a:t>
            </a:r>
            <a:endParaRPr lang="ko-KR" altLang="en-US" sz="14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16643"/>
              </p:ext>
            </p:extLst>
          </p:nvPr>
        </p:nvGraphicFramePr>
        <p:xfrm>
          <a:off x="1596968" y="1920240"/>
          <a:ext cx="8785628" cy="356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407">
                  <a:extLst>
                    <a:ext uri="{9D8B030D-6E8A-4147-A177-3AD203B41FA5}">
                      <a16:colId xmlns:a16="http://schemas.microsoft.com/office/drawing/2014/main" val="982887440"/>
                    </a:ext>
                  </a:extLst>
                </a:gridCol>
                <a:gridCol w="2196407">
                  <a:extLst>
                    <a:ext uri="{9D8B030D-6E8A-4147-A177-3AD203B41FA5}">
                      <a16:colId xmlns:a16="http://schemas.microsoft.com/office/drawing/2014/main" val="4118073744"/>
                    </a:ext>
                  </a:extLst>
                </a:gridCol>
                <a:gridCol w="2196407">
                  <a:extLst>
                    <a:ext uri="{9D8B030D-6E8A-4147-A177-3AD203B41FA5}">
                      <a16:colId xmlns:a16="http://schemas.microsoft.com/office/drawing/2014/main" val="2811776135"/>
                    </a:ext>
                  </a:extLst>
                </a:gridCol>
                <a:gridCol w="2196407">
                  <a:extLst>
                    <a:ext uri="{9D8B030D-6E8A-4147-A177-3AD203B41FA5}">
                      <a16:colId xmlns:a16="http://schemas.microsoft.com/office/drawing/2014/main" val="1979298708"/>
                    </a:ext>
                  </a:extLst>
                </a:gridCol>
              </a:tblGrid>
              <a:tr h="4905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 smtClean="0"/>
                        <a:t>필드명</a:t>
                      </a:r>
                      <a:endParaRPr lang="ko-KR" altLang="en-US" sz="13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/>
                        <a:t>타입</a:t>
                      </a:r>
                      <a:endParaRPr lang="ko-KR" altLang="en-US" sz="13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 smtClean="0"/>
                        <a:t>추가사항</a:t>
                      </a:r>
                      <a:endParaRPr lang="ko-KR" altLang="en-US" sz="13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/>
                        <a:t>실행</a:t>
                      </a:r>
                      <a:endParaRPr lang="ko-KR" altLang="en-US" sz="13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932282"/>
                  </a:ext>
                </a:extLst>
              </a:tr>
              <a:tr h="725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Varchar(10)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not null,</a:t>
                      </a:r>
                    </a:p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Primary key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bg1"/>
                          </a:solidFill>
                        </a:rPr>
                        <a:t>아이디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721044"/>
                  </a:ext>
                </a:extLst>
              </a:tr>
              <a:tr h="65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pw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Varchar(15)</a:t>
                      </a:r>
                      <a:endParaRPr lang="ko-KR" altLang="en-US" sz="13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not null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bg1"/>
                          </a:solidFill>
                        </a:rPr>
                        <a:t>비밀번호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727030"/>
                  </a:ext>
                </a:extLst>
              </a:tr>
              <a:tr h="6267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Varchar(10)</a:t>
                      </a:r>
                      <a:endParaRPr lang="ko-KR" altLang="en-US" sz="13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not null</a:t>
                      </a:r>
                      <a:endParaRPr lang="ko-KR" altLang="en-US" sz="13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bg1"/>
                          </a:solidFill>
                        </a:rPr>
                        <a:t>이름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188793"/>
                  </a:ext>
                </a:extLst>
              </a:tr>
              <a:tr h="5759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 smtClean="0">
                          <a:solidFill>
                            <a:schemeClr val="bg1"/>
                          </a:solidFill>
                        </a:rPr>
                        <a:t>hp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Varchar(25)</a:t>
                      </a:r>
                      <a:endParaRPr lang="ko-KR" altLang="en-US" sz="13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not null</a:t>
                      </a:r>
                      <a:endParaRPr lang="ko-KR" altLang="en-US" sz="13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bg1"/>
                          </a:solidFill>
                        </a:rPr>
                        <a:t>핸드폰 번호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231359"/>
                  </a:ext>
                </a:extLst>
              </a:tr>
              <a:tr h="4905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email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Varchar(35)</a:t>
                      </a:r>
                      <a:endParaRPr lang="ko-KR" altLang="en-US" sz="13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bg1"/>
                          </a:solidFill>
                        </a:rPr>
                        <a:t>not null</a:t>
                      </a:r>
                      <a:endParaRPr lang="ko-KR" altLang="en-US" sz="13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solidFill>
                            <a:schemeClr val="bg1"/>
                          </a:solidFill>
                        </a:rPr>
                        <a:t>이메일</a:t>
                      </a:r>
                      <a:endParaRPr lang="ko-KR" altLang="en-US" sz="13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02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61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3A211156-50E1-4650-8D04-816357CBA00A}"/>
              </a:ext>
            </a:extLst>
          </p:cNvPr>
          <p:cNvSpPr/>
          <p:nvPr/>
        </p:nvSpPr>
        <p:spPr>
          <a:xfrm>
            <a:off x="1522287" y="2419025"/>
            <a:ext cx="1038045" cy="521366"/>
          </a:xfrm>
          <a:prstGeom prst="roundRect">
            <a:avLst>
              <a:gd name="adj" fmla="val 47667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앱 실행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2969146" y="2443964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5A75C2-0027-41E2-B891-F915CE1CCA4A}"/>
              </a:ext>
            </a:extLst>
          </p:cNvPr>
          <p:cNvSpPr/>
          <p:nvPr/>
        </p:nvSpPr>
        <p:spPr>
          <a:xfrm>
            <a:off x="3685234" y="3347254"/>
            <a:ext cx="5096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2"/>
                </a:solidFill>
              </a:rPr>
              <a:t>NO</a:t>
            </a:r>
            <a:endParaRPr lang="ko-KR" altLang="en-US" sz="1100" b="1" dirty="0">
              <a:solidFill>
                <a:schemeClr val="accent2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8A981C-7CD1-4053-8466-DC85FD658697}"/>
              </a:ext>
            </a:extLst>
          </p:cNvPr>
          <p:cNvSpPr/>
          <p:nvPr/>
        </p:nvSpPr>
        <p:spPr>
          <a:xfrm>
            <a:off x="3472315" y="4095992"/>
            <a:ext cx="5739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1"/>
                </a:solidFill>
              </a:rPr>
              <a:t>YES</a:t>
            </a:r>
            <a:endParaRPr lang="ko-KR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3105736" y="2554403"/>
            <a:ext cx="8025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 smtClean="0"/>
              <a:t>로그인</a:t>
            </a:r>
            <a:endParaRPr lang="ko-KR" altLang="en-US" sz="1100" b="1" dirty="0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74567" y="706551"/>
            <a:ext cx="23471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로그인 페이지 </a:t>
            </a:r>
            <a:r>
              <a:rPr lang="ko-KR" altLang="en-US" sz="1400" dirty="0" err="1" smtClean="0"/>
              <a:t>플로우</a:t>
            </a:r>
            <a:r>
              <a:rPr lang="ko-KR" altLang="en-US" sz="1400" dirty="0" smtClean="0"/>
              <a:t> 차트</a:t>
            </a:r>
            <a:endParaRPr lang="ko-KR" altLang="en-US" sz="14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4627724" y="2443964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4764314" y="2554403"/>
            <a:ext cx="8025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ID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6286302" y="2443964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6422892" y="2554403"/>
            <a:ext cx="8025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PW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7944880" y="2443964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8006653" y="2503355"/>
            <a:ext cx="989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b="1" dirty="0" smtClean="0"/>
              <a:t>ID/PW </a:t>
            </a:r>
            <a:r>
              <a:rPr lang="ko-KR" altLang="en-US" sz="900" b="1" dirty="0" smtClean="0"/>
              <a:t>값</a:t>
            </a:r>
            <a:endParaRPr lang="en-US" altLang="ko-KR" sz="900" b="1" dirty="0" smtClean="0"/>
          </a:p>
          <a:p>
            <a:pPr algn="ctr"/>
            <a:r>
              <a:rPr lang="ko-KR" altLang="en-US" sz="900" b="1" dirty="0" smtClean="0"/>
              <a:t>중복 확인 여부</a:t>
            </a:r>
            <a:endParaRPr lang="ko-KR" altLang="en-US" sz="900" b="1" dirty="0"/>
          </a:p>
        </p:txBody>
      </p:sp>
      <p:sp>
        <p:nvSpPr>
          <p:cNvPr id="69" name="모서리가 둥근 직사각형 2">
            <a:extLst>
              <a:ext uri="{FF2B5EF4-FFF2-40B4-BE49-F238E27FC236}">
                <a16:creationId xmlns:a16="http://schemas.microsoft.com/office/drawing/2014/main" id="{3A211156-50E1-4650-8D04-816357CBA00A}"/>
              </a:ext>
            </a:extLst>
          </p:cNvPr>
          <p:cNvSpPr/>
          <p:nvPr/>
        </p:nvSpPr>
        <p:spPr>
          <a:xfrm>
            <a:off x="9603458" y="2419025"/>
            <a:ext cx="1125508" cy="521366"/>
          </a:xfrm>
          <a:prstGeom prst="roundRect">
            <a:avLst>
              <a:gd name="adj" fmla="val 47667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mtClean="0">
                <a:solidFill>
                  <a:schemeClr val="bg1"/>
                </a:solidFill>
              </a:rPr>
              <a:t>로그인 성공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70" name="다이아몬드 69">
            <a:extLst>
              <a:ext uri="{FF2B5EF4-FFF2-40B4-BE49-F238E27FC236}">
                <a16:creationId xmlns:a16="http://schemas.microsoft.com/office/drawing/2014/main" id="{FF901B1D-7175-437D-A9A4-BC2E154574D5}"/>
              </a:ext>
            </a:extLst>
          </p:cNvPr>
          <p:cNvSpPr/>
          <p:nvPr/>
        </p:nvSpPr>
        <p:spPr>
          <a:xfrm>
            <a:off x="2868243" y="3503692"/>
            <a:ext cx="1283311" cy="642791"/>
          </a:xfrm>
          <a:prstGeom prst="diamond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4EB3CA0-7C43-4CF3-90DD-980E84A5474F}"/>
              </a:ext>
            </a:extLst>
          </p:cNvPr>
          <p:cNvSpPr/>
          <p:nvPr/>
        </p:nvSpPr>
        <p:spPr>
          <a:xfrm>
            <a:off x="3178339" y="3689178"/>
            <a:ext cx="63538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 smtClean="0">
                <a:solidFill>
                  <a:schemeClr val="bg1"/>
                </a:solidFill>
              </a:rPr>
              <a:t>계정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2DBE3E6-1FA0-4710-BDF0-DA4D31A2A758}"/>
              </a:ext>
            </a:extLst>
          </p:cNvPr>
          <p:cNvCxnSpPr>
            <a:stCxn id="70" idx="2"/>
          </p:cNvCxnSpPr>
          <p:nvPr/>
        </p:nvCxnSpPr>
        <p:spPr>
          <a:xfrm>
            <a:off x="3509899" y="4146483"/>
            <a:ext cx="0" cy="580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92DBD7B0-C2DE-4917-B8B9-5818E645AFF7}"/>
              </a:ext>
            </a:extLst>
          </p:cNvPr>
          <p:cNvCxnSpPr/>
          <p:nvPr/>
        </p:nvCxnSpPr>
        <p:spPr>
          <a:xfrm flipH="1">
            <a:off x="3509898" y="2940391"/>
            <a:ext cx="1" cy="367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2969146" y="4814194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3105736" y="4924633"/>
            <a:ext cx="8025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/>
              <a:t>회원가입</a:t>
            </a:r>
          </a:p>
        </p:txBody>
      </p:sp>
      <p:cxnSp>
        <p:nvCxnSpPr>
          <p:cNvPr id="6" name="직선 화살표 연결선 5"/>
          <p:cNvCxnSpPr>
            <a:stCxn id="9" idx="3"/>
          </p:cNvCxnSpPr>
          <p:nvPr/>
        </p:nvCxnSpPr>
        <p:spPr>
          <a:xfrm>
            <a:off x="2560332" y="2679708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>
            <a:off x="4040951" y="2679708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>
          <a:xfrm>
            <a:off x="5704049" y="2679708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>
            <a:off x="7362627" y="2679708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9021205" y="2679708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endCxn id="65" idx="0"/>
          </p:cNvCxnSpPr>
          <p:nvPr/>
        </p:nvCxnSpPr>
        <p:spPr>
          <a:xfrm>
            <a:off x="6824186" y="2101580"/>
            <a:ext cx="279" cy="34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5165329" y="2101580"/>
            <a:ext cx="279" cy="34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>
            <a:off x="8482485" y="2101580"/>
            <a:ext cx="279" cy="34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6823628" y="2101580"/>
            <a:ext cx="279" cy="34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5165329" y="2101580"/>
            <a:ext cx="33171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95A75C2-0027-41E2-B891-F915CE1CCA4A}"/>
              </a:ext>
            </a:extLst>
          </p:cNvPr>
          <p:cNvSpPr/>
          <p:nvPr/>
        </p:nvSpPr>
        <p:spPr>
          <a:xfrm>
            <a:off x="6568792" y="1759197"/>
            <a:ext cx="5096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2"/>
                </a:solidFill>
              </a:rPr>
              <a:t>NO</a:t>
            </a:r>
            <a:endParaRPr lang="ko-KR" altLang="en-US" sz="1100" b="1" dirty="0">
              <a:solidFill>
                <a:schemeClr val="accent2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D8A981C-7CD1-4053-8466-DC85FD658697}"/>
              </a:ext>
            </a:extLst>
          </p:cNvPr>
          <p:cNvSpPr/>
          <p:nvPr/>
        </p:nvSpPr>
        <p:spPr>
          <a:xfrm>
            <a:off x="8899083" y="2388403"/>
            <a:ext cx="5739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1"/>
                </a:solidFill>
              </a:rPr>
              <a:t>YES</a:t>
            </a:r>
            <a:endParaRPr lang="ko-KR" altLang="en-US" sz="1100" b="1" dirty="0">
              <a:solidFill>
                <a:schemeClr val="accent1"/>
              </a:solidFill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 flipV="1">
            <a:off x="3940070" y="3032914"/>
            <a:ext cx="1151168" cy="6562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14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다이아몬드 49">
            <a:extLst>
              <a:ext uri="{FF2B5EF4-FFF2-40B4-BE49-F238E27FC236}">
                <a16:creationId xmlns:a16="http://schemas.microsoft.com/office/drawing/2014/main" id="{FF901B1D-7175-437D-A9A4-BC2E154574D5}"/>
              </a:ext>
            </a:extLst>
          </p:cNvPr>
          <p:cNvSpPr/>
          <p:nvPr/>
        </p:nvSpPr>
        <p:spPr>
          <a:xfrm>
            <a:off x="7567537" y="2480588"/>
            <a:ext cx="1635995" cy="698351"/>
          </a:xfrm>
          <a:prstGeom prst="diamond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3A211156-50E1-4650-8D04-816357CBA00A}"/>
              </a:ext>
            </a:extLst>
          </p:cNvPr>
          <p:cNvSpPr/>
          <p:nvPr/>
        </p:nvSpPr>
        <p:spPr>
          <a:xfrm>
            <a:off x="1479831" y="1637629"/>
            <a:ext cx="1038045" cy="521366"/>
          </a:xfrm>
          <a:prstGeom prst="roundRect">
            <a:avLst>
              <a:gd name="adj" fmla="val 47667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>
                <a:solidFill>
                  <a:schemeClr val="bg1"/>
                </a:solidFill>
              </a:rPr>
              <a:t>홈 페이지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1479831" y="2579085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5A75C2-0027-41E2-B891-F915CE1CCA4A}"/>
              </a:ext>
            </a:extLst>
          </p:cNvPr>
          <p:cNvSpPr/>
          <p:nvPr/>
        </p:nvSpPr>
        <p:spPr>
          <a:xfrm>
            <a:off x="3002468" y="4133501"/>
            <a:ext cx="5096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2"/>
                </a:solidFill>
              </a:rPr>
              <a:t>NO</a:t>
            </a:r>
            <a:endParaRPr lang="ko-KR" altLang="en-US" sz="1100" b="1" dirty="0">
              <a:solidFill>
                <a:schemeClr val="accent2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8A981C-7CD1-4053-8466-DC85FD658697}"/>
              </a:ext>
            </a:extLst>
          </p:cNvPr>
          <p:cNvSpPr/>
          <p:nvPr/>
        </p:nvSpPr>
        <p:spPr>
          <a:xfrm>
            <a:off x="4085837" y="3495397"/>
            <a:ext cx="5739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1"/>
                </a:solidFill>
              </a:rPr>
              <a:t>YES</a:t>
            </a:r>
            <a:endParaRPr lang="ko-KR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1616421" y="2689524"/>
            <a:ext cx="8025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 smtClean="0"/>
              <a:t>회원가입</a:t>
            </a:r>
            <a:endParaRPr lang="ko-KR" altLang="en-US" sz="1100" b="1" dirty="0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31" y="272817"/>
            <a:ext cx="2528109" cy="28820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74567" y="706551"/>
            <a:ext cx="2526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회원가입 페이지 </a:t>
            </a:r>
            <a:r>
              <a:rPr lang="ko-KR" altLang="en-US" sz="1400" dirty="0" err="1" smtClean="0"/>
              <a:t>플로우</a:t>
            </a:r>
            <a:r>
              <a:rPr lang="ko-KR" altLang="en-US" sz="1400" dirty="0" smtClean="0"/>
              <a:t> 차트</a:t>
            </a:r>
            <a:endParaRPr lang="ko-KR" altLang="en-US" sz="14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1437894" y="3576206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1574484" y="3686645"/>
            <a:ext cx="8025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ID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4565248" y="2572330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4701838" y="2682769"/>
            <a:ext cx="8025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PW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7795378" y="2651375"/>
            <a:ext cx="120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PW/PW check </a:t>
            </a:r>
            <a:r>
              <a:rPr lang="ko-KR" altLang="en-US" sz="900" b="1" dirty="0" err="1" smtClean="0">
                <a:solidFill>
                  <a:schemeClr val="bg1"/>
                </a:solidFill>
              </a:rPr>
              <a:t>값중복</a:t>
            </a:r>
            <a:r>
              <a:rPr lang="ko-KR" altLang="en-US" sz="900" b="1" dirty="0" smtClean="0">
                <a:solidFill>
                  <a:schemeClr val="bg1"/>
                </a:solidFill>
              </a:rPr>
              <a:t> 확인 여부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69" name="모서리가 둥근 직사각형 2">
            <a:extLst>
              <a:ext uri="{FF2B5EF4-FFF2-40B4-BE49-F238E27FC236}">
                <a16:creationId xmlns:a16="http://schemas.microsoft.com/office/drawing/2014/main" id="{3A211156-50E1-4650-8D04-816357CBA00A}"/>
              </a:ext>
            </a:extLst>
          </p:cNvPr>
          <p:cNvSpPr/>
          <p:nvPr/>
        </p:nvSpPr>
        <p:spPr>
          <a:xfrm>
            <a:off x="9767881" y="5478700"/>
            <a:ext cx="1288690" cy="521366"/>
          </a:xfrm>
          <a:prstGeom prst="roundRect">
            <a:avLst>
              <a:gd name="adj" fmla="val 47667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mtClean="0">
                <a:solidFill>
                  <a:schemeClr val="bg1"/>
                </a:solidFill>
              </a:rPr>
              <a:t>회원가입 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성공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70" name="다이아몬드 69">
            <a:extLst>
              <a:ext uri="{FF2B5EF4-FFF2-40B4-BE49-F238E27FC236}">
                <a16:creationId xmlns:a16="http://schemas.microsoft.com/office/drawing/2014/main" id="{FF901B1D-7175-437D-A9A4-BC2E154574D5}"/>
              </a:ext>
            </a:extLst>
          </p:cNvPr>
          <p:cNvSpPr/>
          <p:nvPr/>
        </p:nvSpPr>
        <p:spPr>
          <a:xfrm>
            <a:off x="3035511" y="3533459"/>
            <a:ext cx="1283311" cy="642791"/>
          </a:xfrm>
          <a:prstGeom prst="diamond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4EB3CA0-7C43-4CF3-90DD-980E84A5474F}"/>
              </a:ext>
            </a:extLst>
          </p:cNvPr>
          <p:cNvSpPr/>
          <p:nvPr/>
        </p:nvSpPr>
        <p:spPr>
          <a:xfrm>
            <a:off x="3270793" y="3718945"/>
            <a:ext cx="81926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 smtClean="0">
                <a:solidFill>
                  <a:schemeClr val="bg1"/>
                </a:solidFill>
              </a:rPr>
              <a:t>중복 확인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92DBD7B0-C2DE-4917-B8B9-5818E645AFF7}"/>
              </a:ext>
            </a:extLst>
          </p:cNvPr>
          <p:cNvCxnSpPr/>
          <p:nvPr/>
        </p:nvCxnSpPr>
        <p:spPr>
          <a:xfrm flipH="1">
            <a:off x="1998852" y="3077945"/>
            <a:ext cx="1" cy="367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2514219" y="3841239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>
            <a:off x="5644089" y="2813574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9195218" y="2830057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D8A981C-7CD1-4053-8466-DC85FD658697}"/>
              </a:ext>
            </a:extLst>
          </p:cNvPr>
          <p:cNvSpPr/>
          <p:nvPr/>
        </p:nvSpPr>
        <p:spPr>
          <a:xfrm>
            <a:off x="8992226" y="2374355"/>
            <a:ext cx="5739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1"/>
                </a:solidFill>
              </a:rPr>
              <a:t>YES</a:t>
            </a:r>
            <a:endParaRPr lang="ko-KR" altLang="en-US" sz="1100" b="1" dirty="0">
              <a:solidFill>
                <a:schemeClr val="accent1"/>
              </a:solidFill>
            </a:endParaRPr>
          </a:p>
        </p:txBody>
      </p:sp>
      <p:cxnSp>
        <p:nvCxnSpPr>
          <p:cNvPr id="11" name="꺾인 연결선 10"/>
          <p:cNvCxnSpPr>
            <a:stCxn id="70" idx="3"/>
          </p:cNvCxnSpPr>
          <p:nvPr/>
        </p:nvCxnSpPr>
        <p:spPr>
          <a:xfrm flipV="1">
            <a:off x="4318822" y="3050804"/>
            <a:ext cx="804051" cy="80405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70" idx="2"/>
            <a:endCxn id="63" idx="2"/>
          </p:cNvCxnSpPr>
          <p:nvPr/>
        </p:nvCxnSpPr>
        <p:spPr>
          <a:xfrm rot="5400000" flipH="1">
            <a:off x="2774972" y="3274056"/>
            <a:ext cx="103279" cy="1701110"/>
          </a:xfrm>
          <a:prstGeom prst="bentConnector3">
            <a:avLst>
              <a:gd name="adj1" fmla="val -2213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6045164" y="2572330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6093334" y="2619917"/>
            <a:ext cx="9799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PW check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7121489" y="2813574"/>
            <a:ext cx="307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9874064" y="2572330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9922234" y="2686419"/>
            <a:ext cx="97998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Mobile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9874064" y="3541948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9922234" y="3656037"/>
            <a:ext cx="97998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E-mail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2DBD7B0-C2DE-4917-B8B9-5818E645AFF7}"/>
              </a:ext>
            </a:extLst>
          </p:cNvPr>
          <p:cNvCxnSpPr/>
          <p:nvPr/>
        </p:nvCxnSpPr>
        <p:spPr>
          <a:xfrm flipH="1">
            <a:off x="10412226" y="3069095"/>
            <a:ext cx="1" cy="367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2DBD7B0-C2DE-4917-B8B9-5818E645AFF7}"/>
              </a:ext>
            </a:extLst>
          </p:cNvPr>
          <p:cNvCxnSpPr/>
          <p:nvPr/>
        </p:nvCxnSpPr>
        <p:spPr>
          <a:xfrm flipH="1">
            <a:off x="10412226" y="4031736"/>
            <a:ext cx="1" cy="367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95A75C2-0027-41E2-B891-F915CE1CCA4A}"/>
              </a:ext>
            </a:extLst>
          </p:cNvPr>
          <p:cNvSpPr/>
          <p:nvPr/>
        </p:nvSpPr>
        <p:spPr>
          <a:xfrm>
            <a:off x="7875862" y="1956670"/>
            <a:ext cx="5096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2"/>
                </a:solidFill>
              </a:rPr>
              <a:t>NO</a:t>
            </a:r>
            <a:endParaRPr lang="ko-KR" altLang="en-US" sz="1100" b="1" dirty="0">
              <a:solidFill>
                <a:schemeClr val="accent2"/>
              </a:solidFill>
            </a:endParaRPr>
          </a:p>
        </p:txBody>
      </p:sp>
      <p:cxnSp>
        <p:nvCxnSpPr>
          <p:cNvPr id="21" name="꺾인 연결선 20"/>
          <p:cNvCxnSpPr>
            <a:stCxn id="50" idx="0"/>
            <a:endCxn id="65" idx="0"/>
          </p:cNvCxnSpPr>
          <p:nvPr/>
        </p:nvCxnSpPr>
        <p:spPr>
          <a:xfrm rot="16200000" flipH="1" flipV="1">
            <a:off x="6698602" y="885397"/>
            <a:ext cx="91742" cy="3282124"/>
          </a:xfrm>
          <a:prstGeom prst="bentConnector3">
            <a:avLst>
              <a:gd name="adj1" fmla="val -2491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00EB6-1A6A-4621-80A0-1F65AAF10BFD}"/>
              </a:ext>
            </a:extLst>
          </p:cNvPr>
          <p:cNvSpPr/>
          <p:nvPr/>
        </p:nvSpPr>
        <p:spPr>
          <a:xfrm>
            <a:off x="9874064" y="4510324"/>
            <a:ext cx="1076325" cy="49676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8068298-0C93-4ACF-8C6E-E1604025D0EB}"/>
              </a:ext>
            </a:extLst>
          </p:cNvPr>
          <p:cNvSpPr/>
          <p:nvPr/>
        </p:nvSpPr>
        <p:spPr>
          <a:xfrm>
            <a:off x="9814172" y="4624413"/>
            <a:ext cx="11494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 smtClean="0"/>
              <a:t> </a:t>
            </a:r>
            <a:r>
              <a:rPr lang="en-US" altLang="ko-KR" sz="1100" b="1" dirty="0" smtClean="0">
                <a:effectLst/>
              </a:rPr>
              <a:t>Birthday </a:t>
            </a:r>
            <a:r>
              <a:rPr lang="ko-KR" altLang="en-US" sz="1100" b="1" dirty="0" smtClean="0"/>
              <a:t>입력</a:t>
            </a:r>
            <a:endParaRPr lang="ko-KR" altLang="en-US" sz="1100" b="1" dirty="0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2DBD7B0-C2DE-4917-B8B9-5818E645AFF7}"/>
              </a:ext>
            </a:extLst>
          </p:cNvPr>
          <p:cNvCxnSpPr/>
          <p:nvPr/>
        </p:nvCxnSpPr>
        <p:spPr>
          <a:xfrm flipH="1">
            <a:off x="10412226" y="5000112"/>
            <a:ext cx="1" cy="367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92DBD7B0-C2DE-4917-B8B9-5818E645AFF7}"/>
              </a:ext>
            </a:extLst>
          </p:cNvPr>
          <p:cNvCxnSpPr/>
          <p:nvPr/>
        </p:nvCxnSpPr>
        <p:spPr>
          <a:xfrm flipH="1">
            <a:off x="1998852" y="2133268"/>
            <a:ext cx="1" cy="367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14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253</Words>
  <Application>Microsoft Office PowerPoint</Application>
  <PresentationFormat>와이드스크린</PresentationFormat>
  <Paragraphs>85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</cp:revision>
  <dcterms:created xsi:type="dcterms:W3CDTF">2023-06-28T02:39:39Z</dcterms:created>
  <dcterms:modified xsi:type="dcterms:W3CDTF">2023-06-28T05:41:14Z</dcterms:modified>
</cp:coreProperties>
</file>